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9" r:id="rId4"/>
    <p:sldId id="273" r:id="rId5"/>
    <p:sldId id="258" r:id="rId6"/>
    <p:sldId id="262" r:id="rId7"/>
    <p:sldId id="261" r:id="rId8"/>
    <p:sldId id="271" r:id="rId9"/>
    <p:sldId id="266" r:id="rId10"/>
    <p:sldId id="268" r:id="rId11"/>
    <p:sldId id="269" r:id="rId12"/>
    <p:sldId id="270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0635BCA9-6194-3E76-2E64-CFCB4AF0C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AD850820-F756-A34E-C9E2-E72288C3F8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>
            <a:extLst>
              <a:ext uri="{FF2B5EF4-FFF2-40B4-BE49-F238E27FC236}">
                <a16:creationId xmlns:a16="http://schemas.microsoft.com/office/drawing/2014/main" id="{A1F97A9E-3B1D-3862-066D-C8B85BA26A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360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D8638AC1-8A90-A0D1-C959-8D38C121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5A381BB0-9189-7120-2389-437528BAC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>
            <a:extLst>
              <a:ext uri="{FF2B5EF4-FFF2-40B4-BE49-F238E27FC236}">
                <a16:creationId xmlns:a16="http://schemas.microsoft.com/office/drawing/2014/main" id="{2E27B310-99B2-251E-D096-7FFEA7001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394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288235" y="3107782"/>
            <a:ext cx="11579087" cy="126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– 2</a:t>
            </a:r>
            <a:br>
              <a:rPr lang="en-US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2600" b="1" dirty="0">
                <a:latin typeface="Times New Roman"/>
                <a:ea typeface="Times New Roman"/>
                <a:cs typeface="Times New Roman"/>
                <a:sym typeface="Times New Roman"/>
              </a:rPr>
              <a:t>EEA0117 – Basic Electrical and Electronics Engineering</a:t>
            </a:r>
            <a:br>
              <a:rPr lang="en-US" sz="27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700"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6587613" y="4405744"/>
            <a:ext cx="5202939" cy="225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C0C0C"/>
              </a:buClr>
              <a:buSzPts val="2600"/>
            </a:pPr>
            <a:r>
              <a:rPr lang="en-US" sz="24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</a:t>
            </a:r>
          </a:p>
          <a:p>
            <a:pPr marL="0" lvl="0" indent="0">
              <a:spcBef>
                <a:spcPts val="0"/>
              </a:spcBef>
              <a:buClr>
                <a:srgbClr val="0C0C0C"/>
              </a:buClr>
              <a:buSzPts val="2600"/>
            </a:pPr>
            <a:r>
              <a:rPr lang="en-US" sz="2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V.Venkata kumar reddy(192311350)</a:t>
            </a:r>
            <a:br>
              <a:rPr lang="en-US" sz="2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K.Chaitanya(192311450)</a:t>
            </a:r>
            <a:endParaRPr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4331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76213" y="4722854"/>
            <a:ext cx="3485848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R. Sivakumar  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2709859" y="2194572"/>
            <a:ext cx="7041823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Energy Meter with Real-Time Monitoring</a:t>
            </a:r>
            <a:r>
              <a:rPr lang="en-IN" sz="2400" b="1" dirty="0">
                <a:solidFill>
                  <a:srgbClr val="F8FAFC"/>
                </a:solidFill>
                <a:latin typeface="Poppins"/>
              </a:rPr>
              <a:t>     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ESP32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ESP32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544445" y="386715"/>
            <a:ext cx="6684396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INSTITUTE OF MEDICAL AND TECHNICAL SCIENCES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93;p13">
            <a:extLst>
              <a:ext uri="{FF2B5EF4-FFF2-40B4-BE49-F238E27FC236}">
                <a16:creationId xmlns:a16="http://schemas.microsoft.com/office/drawing/2014/main" id="{2103D122-A75B-46D4-D990-9111A6FEA80F}"/>
              </a:ext>
            </a:extLst>
          </p:cNvPr>
          <p:cNvSpPr txBox="1"/>
          <p:nvPr/>
        </p:nvSpPr>
        <p:spPr>
          <a:xfrm>
            <a:off x="2365731" y="1671392"/>
            <a:ext cx="704182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Capstone project presentation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algn="just">
              <a:spcBef>
                <a:spcPts val="480"/>
              </a:spcBef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the design and implementation of an IoT-enabled Smart Energy Meter utilizing the ESP32 microcontroller and the PZEM-004T power measurement sensor.</a:t>
            </a:r>
          </a:p>
          <a:p>
            <a:pPr marL="342900" algn="just">
              <a:spcBef>
                <a:spcPts val="480"/>
              </a:spcBef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live AC electrical parameters—including voltage, current, active power, frequency, power factor, and total energy (kWh)—and wirelessly streams data to cloud platforms (Blynk/MQTT) for instantaneous visualization and anomaly management.</a:t>
            </a: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 descr="How to Build an Online Food Ordering System [Complete Guide]"/>
          <p:cNvSpPr/>
          <p:nvPr/>
        </p:nvSpPr>
        <p:spPr>
          <a:xfrm>
            <a:off x="6892414" y="2133600"/>
            <a:ext cx="5034116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 descr="How to Build an Online Food Ordering System [Complete Guide]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 descr="How to Build an Online Food Ordering System [Complete Guide]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383627" y="1953628"/>
            <a:ext cx="11424745" cy="476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algn="just">
              <a:lnSpc>
                <a:spcPct val="150000"/>
              </a:lnSpc>
              <a:spcBef>
                <a:spcPts val="34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3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Accurately sample and measure AC voltage, current, active power, frequency, power factor, and cumulative energy consumption in real time.</a:t>
            </a:r>
          </a:p>
          <a:p>
            <a:pPr marL="342900" algn="just">
              <a:lnSpc>
                <a:spcPct val="150000"/>
              </a:lnSpc>
              <a:spcBef>
                <a:spcPts val="34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3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 live sensor data over Wi-Fi using lightweight protocols (MQTT/HTTP) to an interactive cloud dashboard with sub-second latency.</a:t>
            </a:r>
          </a:p>
          <a:p>
            <a:pPr marL="342900" algn="just">
              <a:lnSpc>
                <a:spcPct val="150000"/>
              </a:lnSpc>
              <a:spcBef>
                <a:spcPts val="34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3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automated relay cut-offs during electrical overloads and dispatch instant SMS/Push notifications to user mobile devices.</a:t>
            </a:r>
          </a:p>
          <a:p>
            <a:pPr marL="0" indent="0" algn="just">
              <a:lnSpc>
                <a:spcPct val="150000"/>
              </a:lnSpc>
              <a:spcBef>
                <a:spcPts val="340"/>
              </a:spcBef>
              <a:buSzPct val="100000"/>
              <a:buNone/>
            </a:pPr>
            <a:r>
              <a:rPr lang="en-IN" sz="3900" b="1" dirty="0">
                <a:solidFill>
                  <a:srgbClr val="F8FAFC"/>
                </a:solidFill>
                <a:latin typeface="Poppins"/>
              </a:rPr>
              <a:t>Sensing</a:t>
            </a:r>
          </a:p>
          <a:p>
            <a:pPr marL="0" indent="0" algn="just">
              <a:lnSpc>
                <a:spcPct val="150000"/>
              </a:lnSpc>
              <a:spcBef>
                <a:spcPts val="340"/>
              </a:spcBef>
              <a:buSzPct val="100000"/>
              <a:buNone/>
            </a:pPr>
            <a:r>
              <a:rPr lang="en-IN" sz="2000" b="1" dirty="0">
                <a:solidFill>
                  <a:srgbClr val="F8FAFC"/>
                </a:solidFill>
                <a:latin typeface="Poppins"/>
              </a:rPr>
              <a:t>Sensing</a:t>
            </a:r>
          </a:p>
          <a:p>
            <a:pPr marL="0" lvl="0" indent="0" algn="just" rtl="0">
              <a:lnSpc>
                <a:spcPct val="15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A659B05-FA30-4A6F-E732-EF5B2881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>
            <a:extLst>
              <a:ext uri="{FF2B5EF4-FFF2-40B4-BE49-F238E27FC236}">
                <a16:creationId xmlns:a16="http://schemas.microsoft.com/office/drawing/2014/main" id="{02D20143-6C3F-8CE7-0C14-8D713BDCBA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</p:txBody>
      </p:sp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27E76A91-BD24-02C5-8D85-A30678C08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3627" y="1953628"/>
            <a:ext cx="11424745" cy="408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spcBef>
                <a:spcPts val="340"/>
              </a:spcBef>
              <a:buSzPct val="100000"/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Reading Overhead: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Utility personnel must physically inspect meters, introducing human error, delayed billing cycles, and high labor overhead.</a:t>
            </a:r>
          </a:p>
          <a:p>
            <a:pPr marL="0" indent="0" algn="just">
              <a:lnSpc>
                <a:spcPct val="150000"/>
              </a:lnSpc>
              <a:spcBef>
                <a:spcPts val="340"/>
              </a:spcBef>
              <a:buSzPct val="100000"/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Live Visibility: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Consumers receive electricity bills weeks after consumption, leaving them unaware of energy spikes, phantom power draw, or inefficient appliances until money is wasted.</a:t>
            </a:r>
          </a:p>
          <a:p>
            <a:pPr marL="0" indent="0" algn="just">
              <a:lnSpc>
                <a:spcPct val="150000"/>
              </a:lnSpc>
              <a:spcBef>
                <a:spcPts val="340"/>
              </a:spcBef>
              <a:buSzPct val="100000"/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Undetected Faults &amp; Overloads: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meters cannot issue real-time alerts for overvoltage or overcurrent conditions, risking electrical fires and severe appliance damage.</a:t>
            </a:r>
          </a:p>
          <a:p>
            <a:pPr marL="0" lvl="0" indent="0" algn="just" rtl="0">
              <a:lnSpc>
                <a:spcPct val="15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16">
            <a:extLst>
              <a:ext uri="{FF2B5EF4-FFF2-40B4-BE49-F238E27FC236}">
                <a16:creationId xmlns:a16="http://schemas.microsoft.com/office/drawing/2014/main" id="{C0FE54E5-A8DD-9A8F-71CC-9CD7CEB10E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>
            <a:extLst>
              <a:ext uri="{FF2B5EF4-FFF2-40B4-BE49-F238E27FC236}">
                <a16:creationId xmlns:a16="http://schemas.microsoft.com/office/drawing/2014/main" id="{6DA8BE71-D361-6A7F-126E-BEF1E823DA0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1C2B5A3D-4DBD-8664-22FB-64B0C673FF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3350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1743958" y="274638"/>
            <a:ext cx="85501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09600" y="1945177"/>
            <a:ext cx="10972800" cy="388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82600" algn="just">
              <a:lnSpc>
                <a:spcPct val="150000"/>
              </a:lnSpc>
              <a:spcBef>
                <a:spcPts val="440"/>
              </a:spcBef>
              <a:buSzPts val="22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power monitoring plays a foundational role in modern smart grids and smart homes. Traditional electromechanical energy meters offer no immediate feedback to consumers and require manual reading cycles.</a:t>
            </a:r>
          </a:p>
          <a:p>
            <a:pPr marL="482600" algn="just">
              <a:lnSpc>
                <a:spcPct val="150000"/>
              </a:lnSpc>
              <a:spcBef>
                <a:spcPts val="440"/>
              </a:spcBef>
              <a:buSzPts val="22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edge microcontrollers with Wi-Fi telemetry, users gain transparent insight into usage patterns, enabling proactive energy conservation, billing estimation, and automated remote load control.</a:t>
            </a:r>
          </a:p>
          <a:p>
            <a:pPr marL="342900" lvl="0" indent="-20320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 descr="How to Build an Online Food Ordering System [Complete Guide]"/>
          <p:cNvSpPr/>
          <p:nvPr/>
        </p:nvSpPr>
        <p:spPr>
          <a:xfrm>
            <a:off x="6892414" y="2133600"/>
            <a:ext cx="5034116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 descr="How to Build an Online Food Ordering System [Complete Guide]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 descr="How to Build an Online Food Ordering System [Complete Guide]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SYSTEM DESIGN/ BLOCK DIAGRAM &amp; CIRCUIT DIAGRAM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C571B4-6EC8-8950-69DD-6CB220597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5662612" cy="4525963"/>
          </a:xfrm>
        </p:spPr>
        <p:txBody>
          <a:bodyPr/>
          <a:lstStyle/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Sensing Phase: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Voltage sampling resistors and the CT clamp continuously measure AC mains line parameters without physical wire cutting.</a:t>
            </a:r>
          </a:p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Dispatch: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Readings publish over Wi-Fi to cloud endpoints for live charting, bill prediction, and alert generation.</a:t>
            </a:r>
          </a:p>
          <a:p>
            <a:endParaRPr lang="en-IN" dirty="0"/>
          </a:p>
        </p:txBody>
      </p:sp>
      <p:sp>
        <p:nvSpPr>
          <p:cNvPr id="164" name="Google Shape;164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DA153DCF-7474-F3AC-79E1-4C9FD3A0C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212" y="2057400"/>
            <a:ext cx="5376862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2956232" y="291568"/>
            <a:ext cx="62795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MODULE - 1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05105" algn="just">
              <a:lnSpc>
                <a:spcPct val="160000"/>
              </a:lnSpc>
              <a:spcBef>
                <a:spcPts val="434"/>
              </a:spcBef>
              <a:buSzPct val="100000"/>
              <a:buNone/>
            </a:pPr>
            <a:r>
              <a:rPr lang="en-IN" sz="2000" b="1" dirty="0">
                <a:solidFill>
                  <a:srgbClr val="10B981"/>
                </a:solidFill>
                <a:latin typeface="Poppins"/>
              </a:rPr>
              <a:t>Module 1: Data Sensing &amp; Edge Processing</a:t>
            </a:r>
          </a:p>
          <a:p>
            <a:pPr marL="480695" algn="just">
              <a:lnSpc>
                <a:spcPct val="160000"/>
              </a:lnSpc>
              <a:spcBef>
                <a:spcPts val="434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Integration: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Combines the ESP32 Wi-Fi SoC with the PZEM-004T v3.0 AC module and a non-invasive Split-Core Current Transformer (CT).</a:t>
            </a:r>
          </a:p>
          <a:p>
            <a:pPr marL="480695" algn="just">
              <a:lnSpc>
                <a:spcPct val="160000"/>
              </a:lnSpc>
              <a:spcBef>
                <a:spcPts val="434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Processing: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onboard SD3004 IC executes high-speed analog sampling and optocoupler-isolated digital UART communication, keeping the ESP32 isolated from high voltage AC mains.</a:t>
            </a:r>
          </a:p>
          <a:p>
            <a:pPr marL="342900" lvl="0" indent="-205105" algn="just" rtl="0">
              <a:lnSpc>
                <a:spcPct val="16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EDD70D27-C587-8507-37A4-25BA21E0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>
            <a:extLst>
              <a:ext uri="{FF2B5EF4-FFF2-40B4-BE49-F238E27FC236}">
                <a16:creationId xmlns:a16="http://schemas.microsoft.com/office/drawing/2014/main" id="{3D10C07A-FC2D-C972-B8D4-475D6B0011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56232" y="291568"/>
            <a:ext cx="62795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MODULE - 2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8">
            <a:extLst>
              <a:ext uri="{FF2B5EF4-FFF2-40B4-BE49-F238E27FC236}">
                <a16:creationId xmlns:a16="http://schemas.microsoft.com/office/drawing/2014/main" id="{74F9C78F-F24C-3661-9DE6-6770DA288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indent="-205105" algn="just">
              <a:lnSpc>
                <a:spcPct val="160000"/>
              </a:lnSpc>
              <a:spcBef>
                <a:spcPts val="434"/>
              </a:spcBef>
              <a:buSzPct val="100000"/>
              <a:buNone/>
            </a:pPr>
            <a:r>
              <a:rPr lang="en-IN" sz="2000" b="1" dirty="0">
                <a:solidFill>
                  <a:srgbClr val="10B981"/>
                </a:solidFill>
                <a:latin typeface="Poppins"/>
              </a:rPr>
              <a:t>Module 2: IoT Communication &amp; Dashboard</a:t>
            </a:r>
          </a:p>
          <a:p>
            <a:pPr marL="342900" indent="-205105" algn="just">
              <a:lnSpc>
                <a:spcPct val="160000"/>
              </a:lnSpc>
              <a:spcBef>
                <a:spcPts val="434"/>
              </a:spcBef>
              <a:buSzPct val="100000"/>
              <a:buNone/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Data Telemetry: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ESP32 packages electrical parameters into JSON formats and pushes updates to MQTT brokers / Blynk IoT server via Wi-Fi.</a:t>
            </a:r>
          </a:p>
          <a:p>
            <a:pPr marL="342900" lvl="0" indent="-205105" algn="just">
              <a:lnSpc>
                <a:spcPct val="160000"/>
              </a:lnSpc>
              <a:spcBef>
                <a:spcPts val="434"/>
              </a:spcBef>
              <a:buSzPct val="100000"/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&amp; Actuation: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responsive web/mobile graphical dashboard for live data plotting, bill forecasting, and remote manual/automated relay control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2" name="Google Shape;152;p18">
            <a:extLst>
              <a:ext uri="{FF2B5EF4-FFF2-40B4-BE49-F238E27FC236}">
                <a16:creationId xmlns:a16="http://schemas.microsoft.com/office/drawing/2014/main" id="{3E853762-DD29-6DAB-3F7E-9CA4BA455D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53" name="Google Shape;153;p18">
            <a:extLst>
              <a:ext uri="{FF2B5EF4-FFF2-40B4-BE49-F238E27FC236}">
                <a16:creationId xmlns:a16="http://schemas.microsoft.com/office/drawing/2014/main" id="{E76A05CF-EC48-0928-5D6B-05B9B37DC4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>
            <a:extLst>
              <a:ext uri="{FF2B5EF4-FFF2-40B4-BE49-F238E27FC236}">
                <a16:creationId xmlns:a16="http://schemas.microsoft.com/office/drawing/2014/main" id="{91F4B989-F46F-73A2-D544-04256C89665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364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CHALLENGES &amp; LIMITATIONS</a:t>
            </a:r>
          </a:p>
        </p:txBody>
      </p:sp>
      <p:sp>
        <p:nvSpPr>
          <p:cNvPr id="214" name="Google Shape;214;p23"/>
          <p:cNvSpPr txBox="1">
            <a:spLocks noGrp="1"/>
          </p:cNvSpPr>
          <p:nvPr>
            <p:ph type="body" idx="1"/>
          </p:nvPr>
        </p:nvSpPr>
        <p:spPr>
          <a:xfrm>
            <a:off x="609600" y="1892157"/>
            <a:ext cx="10972800" cy="4347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635000" lvl="0" indent="-457200" algn="just">
              <a:lnSpc>
                <a:spcPct val="150000"/>
              </a:lnSpc>
              <a:spcBef>
                <a:spcPts val="560"/>
              </a:spcBef>
              <a:buSzPts val="2800"/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key practical operational constraints including 2.4 GHz Wi-Fi dropouts, Current Transformer (CT) non-linear calibration drift at low loads (&lt; 0.1A), and MQTT payload cybersecurity exposure</a:t>
            </a:r>
          </a:p>
          <a:p>
            <a:pPr marL="635000" lvl="0" indent="-457200" algn="just">
              <a:lnSpc>
                <a:spcPct val="150000"/>
              </a:lnSpc>
              <a:spcBef>
                <a:spcPts val="560"/>
              </a:spcBef>
              <a:buSzPts val="2800"/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matrix detailing identified technical limitations (single-phase restriction, ESP32 SRAM log capacity, transient voltage spikes, unencrypted transmission), their impact severities, and proposed future engineering solutions</a:t>
            </a:r>
            <a:endParaRPr sz="2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15" name="Google Shape;21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>
            <a:spLocks noGrp="1"/>
          </p:cNvSpPr>
          <p:nvPr>
            <p:ph type="title"/>
          </p:nvPr>
        </p:nvSpPr>
        <p:spPr>
          <a:xfrm>
            <a:off x="1800520" y="274638"/>
            <a:ext cx="816911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</a:p>
        </p:txBody>
      </p:sp>
      <p:sp>
        <p:nvSpPr>
          <p:cNvPr id="236" name="Google Shape;236;p25"/>
          <p:cNvSpPr txBox="1">
            <a:spLocks noGrp="1"/>
          </p:cNvSpPr>
          <p:nvPr>
            <p:ph type="body" idx="1"/>
          </p:nvPr>
        </p:nvSpPr>
        <p:spPr>
          <a:xfrm>
            <a:off x="516950" y="1417637"/>
            <a:ext cx="10972800" cy="450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algn="just">
              <a:lnSpc>
                <a:spcPct val="160000"/>
              </a:lnSpc>
              <a:spcBef>
                <a:spcPts val="480"/>
              </a:spcBef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section divider marking the transition into key outcomes and prospective engineering developments.</a:t>
            </a:r>
          </a:p>
          <a:p>
            <a:pPr marL="495300" lvl="0" algn="just">
              <a:lnSpc>
                <a:spcPct val="160000"/>
              </a:lnSpc>
              <a:spcBef>
                <a:spcPts val="480"/>
              </a:spcBef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key project accomplishments including true RMS accuracy (&lt; 0.5% error margin), instant 45ms automated safety relay protection, and an 85%+ cost reduction over commercial meters</a:t>
            </a:r>
          </a:p>
          <a:p>
            <a:pPr marL="495300" lvl="0" algn="just">
              <a:lnSpc>
                <a:spcPct val="160000"/>
              </a:lnSpc>
              <a:spcBef>
                <a:spcPts val="480"/>
              </a:spcBef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tile breakdown covering Edge AI Non-Invasive Load Monitoring (NILM), PV solar bi-directional net metering, and MQTTS hardware security co-processors.</a:t>
            </a: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37" name="Google Shape;23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247" name="Google Shape;247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Faruqui, A., Sergici, S., &amp; Sharif, A. (2023)</a:t>
            </a:r>
            <a:r>
              <a:rPr lang="en-IN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Impact of Smart Metering on Electricity Consumption: A Review of the Evidence”</a:t>
            </a: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Policy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38, Issue 7, </a:t>
            </a: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 3979–3989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Gupta, S., &amp; Kumar, R. (2025)</a:t>
            </a:r>
            <a:r>
              <a:rPr lang="en-IN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“Historical Data Analysis for Smart Metering Systems”</a:t>
            </a: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Smart Grid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1, </a:t>
            </a: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 123–132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Faisal, M., Karim, T. F., Pavel, A. R., Hossen, S. M., &amp; Lipu, M. S. H. (2024)</a:t>
            </a:r>
            <a:r>
              <a:rPr lang="en-IN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“Development of Smart Energy Meter for Energy Cost Analysis of Conventional Grid and Solar Energy”</a:t>
            </a: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Conference: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Robotics, Electrical and Signal Processing Techniques (ICREST)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 128–132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DOI: 10.1109/ICREST.2019.8644356.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SEGE (2023)</a:t>
            </a:r>
            <a:r>
              <a:rPr lang="en-IN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“Design and Implementation of an Internet of Things Based Smart Energy Metering”</a:t>
            </a: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Conference: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Smart Energy Grid Engineering (SEGE)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 345–349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DOI: 10.1109/SEGE.2018.8499458.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Yedge, M., Kadam, P., Patekar, P., Jadhav, G., &amp; Khade, A. (2025)</a:t>
            </a:r>
            <a:r>
              <a:rPr lang="en-IN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“Smart Energy Meter and Theft Detection Using ESP32”</a:t>
            </a: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for Research in Applied Science and Engineering Technology (IJRASET)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13, Issue 4, </a:t>
            </a:r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 254–257</a:t>
            </a: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DOI: 10.22214/ijraset.2025.68513.</a:t>
            </a:r>
            <a:b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sz="1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48" name="Google Shape;24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89" y="404244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0297" y="408442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60" name="Google Shape;26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2286" y="393171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50164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26102" y="2057875"/>
            <a:ext cx="7858921" cy="373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941</Words>
  <Application>Microsoft Office PowerPoint</Application>
  <PresentationFormat>Widescreen</PresentationFormat>
  <Paragraphs>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Poppins</vt:lpstr>
      <vt:lpstr>Times New Roman</vt:lpstr>
      <vt:lpstr>Wingdings</vt:lpstr>
      <vt:lpstr>Office Theme</vt:lpstr>
      <vt:lpstr> Team – 2  EEA0117 – Basic Electrical and Electronics Engineering </vt:lpstr>
      <vt:lpstr>ABSTRACT</vt:lpstr>
      <vt:lpstr>OBJECTIVES</vt:lpstr>
      <vt:lpstr>PROBLEM STATEMENT</vt:lpstr>
      <vt:lpstr>INTRODUCTION</vt:lpstr>
      <vt:lpstr>SYSTEM DESIGN/ BLOCK DIAGRAM &amp; CIRCUIT DIAGRAM</vt:lpstr>
      <vt:lpstr>MODULE - 1</vt:lpstr>
      <vt:lpstr>MODULE - 2</vt:lpstr>
      <vt:lpstr>CHALLENGES &amp; LIMITATIONS</vt:lpstr>
      <vt:lpstr>CONCLUSION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Siva Kumar</dc:creator>
  <cp:lastModifiedBy>vyshnavi reddy</cp:lastModifiedBy>
  <cp:revision>11</cp:revision>
  <dcterms:modified xsi:type="dcterms:W3CDTF">2026-07-28T04:55:04Z</dcterms:modified>
</cp:coreProperties>
</file>